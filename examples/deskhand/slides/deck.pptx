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Deskhand is a fictional product. Everything in this deck comes from its brand contract and demo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a highlighted claim, then follow its line to the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Pricing follows the contract: free for 14 days, then a price per reply Deskhand sends.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6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905" y="1417320"/>
            <a:ext cx="10241280" cy="2514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rgbClr val="101114"/>
                </a:solidFill>
                <a:latin typeface="Geist" pitchFamily="34" charset="0"/>
                <a:ea typeface="Geist" pitchFamily="34" charset="-122"/>
                <a:cs typeface="Geis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6000" b="1" dirty="0">
                <a:solidFill>
                  <a:srgbClr val="1011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Title states the conclusion</a:t>
            </a:r>
            <a:endParaRPr lang="en-US" sz="6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rgbClr val="F6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905" y="822960"/>
            <a:ext cx="104241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101114"/>
                </a:solidFill>
                <a:latin typeface="Geist" pitchFamily="34" charset="0"/>
                <a:ea typeface="Geist" pitchFamily="34" charset="-122"/>
                <a:cs typeface="Geis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rgbClr val="1011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Title states the conclusion</a:t>
            </a: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609905" y="6309360"/>
            <a:ext cx="98746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5F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Deskhand  ·  Fictional product for a Brand Studio demo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7390" y="630936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C5F66"/>
                </a:solidFill>
                <a:latin typeface="Geist Mono"/>
                <a:ea typeface="Geist Mono"/>
                <a:cs typeface="Geist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FFE1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905" y="1577340"/>
            <a:ext cx="9875520" cy="22631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101114"/>
                </a:solidFill>
                <a:latin typeface="Geist" pitchFamily="34" charset="0"/>
                <a:ea typeface="Geist" pitchFamily="34" charset="-122"/>
                <a:cs typeface="Geis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5400" b="1" dirty="0">
                <a:solidFill>
                  <a:srgbClr val="1011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Title states the conclusion</a:t>
            </a:r>
            <a:endParaRPr lang="en-US" sz="5400" dirty="0"/>
          </a:p>
        </p:txBody>
      </p:sp>
      <p:sp>
        <p:nvSpPr>
          <p:cNvPr id="3" name="Text 0"/>
          <p:cNvSpPr/>
          <p:nvPr/>
        </p:nvSpPr>
        <p:spPr>
          <a:xfrm>
            <a:off x="609905" y="6309360"/>
            <a:ext cx="98746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011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Deskhand  ·  Fictional product for a Brand Studio demo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7390" y="630936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101114"/>
                </a:solidFill>
                <a:latin typeface="Geist Mono"/>
                <a:ea typeface="Geist Mono"/>
                <a:cs typeface="Geist Mono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">
    <p:bg>
      <p:bgPr>
        <a:solidFill>
          <a:srgbClr val="F6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905" y="624840"/>
            <a:ext cx="10424160" cy="838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01114"/>
                </a:solidFill>
                <a:latin typeface="Geist" pitchFamily="34" charset="0"/>
                <a:ea typeface="Geist" pitchFamily="34" charset="-122"/>
                <a:cs typeface="Geis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rgbClr val="1011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Title states the conclusion</a:t>
            </a: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609905" y="6309360"/>
            <a:ext cx="98746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5F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Deskhand  ·  Fictional product for a Brand Studio demo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7390" y="630936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C5F66"/>
                </a:solidFill>
                <a:latin typeface="Geist Mono"/>
                <a:ea typeface="Geist Mono"/>
                <a:cs typeface="Geist Mono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cess">
    <p:bg>
      <p:bgPr>
        <a:solidFill>
          <a:srgbClr val="101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905" y="822960"/>
            <a:ext cx="104241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6F6F3"/>
                </a:solidFill>
                <a:latin typeface="Geist" pitchFamily="34" charset="0"/>
                <a:ea typeface="Geist" pitchFamily="34" charset="-122"/>
                <a:cs typeface="Geis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rgbClr val="F6F6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Title states the conclusion</a:t>
            </a: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609905" y="6309360"/>
            <a:ext cx="98746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6A9B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Deskhand  ·  Fictional product for a Brand Studio demo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7390" y="630936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A6A9B0"/>
                </a:solidFill>
                <a:latin typeface="Geist Mono"/>
                <a:ea typeface="Geist Mono"/>
                <a:cs typeface="Geist Mono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ta">
    <p:bg>
      <p:bgPr>
        <a:solidFill>
          <a:srgbClr val="F6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905" y="822960"/>
            <a:ext cx="104241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101114"/>
                </a:solidFill>
                <a:latin typeface="Geist" pitchFamily="34" charset="0"/>
                <a:ea typeface="Geist" pitchFamily="34" charset="-122"/>
                <a:cs typeface="Geis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rgbClr val="1011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Title states the conclusion</a:t>
            </a: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609905" y="6309360"/>
            <a:ext cx="98746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5F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Deskhand  ·  Fictional product for a Brand Studio demo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7390" y="630936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C5F66"/>
                </a:solidFill>
                <a:latin typeface="Geist Mono"/>
                <a:ea typeface="Geist Mono"/>
                <a:cs typeface="Geist Mono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rgbClr val="F6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905" y="822960"/>
            <a:ext cx="104241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101114"/>
                </a:solidFill>
                <a:latin typeface="Geist" pitchFamily="34" charset="0"/>
                <a:ea typeface="Geist" pitchFamily="34" charset="-122"/>
                <a:cs typeface="Geis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rgbClr val="1011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Title states the conclusion</a:t>
            </a: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609905" y="6309360"/>
            <a:ext cx="98746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5F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Deskhand  ·  Fictional product for a Brand Studio demo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7390" y="630936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C5F66"/>
                </a:solidFill>
                <a:latin typeface="Geist Mono"/>
                <a:ea typeface="Geist Mono"/>
                <a:cs typeface="Geist Mono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FFE1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905" y="1798320"/>
            <a:ext cx="9875520" cy="1676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rgbClr val="101114"/>
                </a:solidFill>
                <a:latin typeface="Geist" pitchFamily="34" charset="0"/>
                <a:ea typeface="Geist" pitchFamily="34" charset="-122"/>
                <a:cs typeface="Geis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6000" b="1" dirty="0">
                <a:solidFill>
                  <a:srgbClr val="1011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Title states the conclusion</a:t>
            </a:r>
            <a:endParaRPr lang="en-US" sz="6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7390" y="630936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C5F66"/>
                </a:solidFill>
                <a:latin typeface="Geist Mono"/>
                <a:ea typeface="Geist Mono"/>
                <a:cs typeface="Geist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905" y="1417320"/>
            <a:ext cx="10241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1011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Deskhand drafts replies to your support tickets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09905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011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Deskhand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09905" y="4251960"/>
            <a:ext cx="9601200" cy="92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1011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Each reply </a:t>
            </a:r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101114"/>
                </a:solidFill>
                <a:highlight>
                  <a:srgbClr val="FFE14D"/>
                </a:highlight>
                <a:latin typeface="Geist" pitchFamily="34" charset="0"/>
                <a:ea typeface="Geist" pitchFamily="34" charset="-122"/>
                <a:cs typeface="Geist" pitchFamily="34" charset="-120"/>
              </a:rPr>
              <a:t>links every claim</a:t>
            </a:r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1011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to the order or help article it came from.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5989320"/>
            <a:ext cx="10971886" cy="0"/>
          </a:xfrm>
          <a:prstGeom prst="line">
            <a:avLst/>
          </a:prstGeom>
          <a:noFill/>
          <a:ln w="9525">
            <a:solidFill>
              <a:srgbClr val="9A9E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905" y="6126480"/>
            <a:ext cx="109718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5F6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Brand introduction  ·  Fictional product for a Brand Studio demo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905" y="8229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11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Support leads need to trust a reply before it goes out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905" y="2148840"/>
            <a:ext cx="987552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011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Deskhand is for online shops with one to ten support agents. Each draft shows </a:t>
            </a:r>
            <a:pPr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01114"/>
                </a:solidFill>
                <a:highlight>
                  <a:srgbClr val="FFE14D"/>
                </a:highlight>
                <a:latin typeface="Geist" pitchFamily="34" charset="0"/>
                <a:ea typeface="Geist" pitchFamily="34" charset="-122"/>
                <a:cs typeface="Geist" pitchFamily="34" charset="-120"/>
              </a:rPr>
              <a:t>the order or help article behind every fact</a:t>
            </a:r>
            <a:pPr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011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905" y="5870448"/>
            <a:ext cx="109718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114"/>
                </a:solidFill>
                <a:highlight>
                  <a:srgbClr val="FFE14D"/>
                </a:highlight>
                <a:latin typeface="Geist Mono" pitchFamily="34" charset="0"/>
                <a:ea typeface="Geist Mono" pitchFamily="34" charset="-122"/>
                <a:cs typeface="Geist Mono" pitchFamily="34" charset="-120"/>
              </a:rPr>
              <a:t> 1 </a:t>
            </a:r>
            <a:pPr indent="0" marL="0">
              <a:buNone/>
            </a:pPr>
            <a:r>
              <a:rPr lang="en-US" sz="1200" dirty="0">
                <a:solidFill>
                  <a:srgbClr val="5C5F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Deskhand brand contract: audience and positioning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7390" y="630936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C5F66"/>
                </a:solidFill>
                <a:latin typeface="Geist Mono"/>
                <a:ea typeface="Geist Mono"/>
                <a:cs typeface="Geist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905" y="1577340"/>
            <a:ext cx="9875520" cy="22631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011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One ticket shows how a reply gets made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09905" y="640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0111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09905" y="4160520"/>
            <a:ext cx="91440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1011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Ticket #2291: a lamp arrived cracked, and the customer wants a refund.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7390" y="630936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101114"/>
                </a:solidFill>
                <a:latin typeface="Geist Mono"/>
                <a:ea typeface="Geist Mono"/>
                <a:cs typeface="Geist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905" y="624840"/>
            <a:ext cx="1042416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1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Ticket #2291 gets a cited reply in one view</a:t>
            </a:r>
            <a:endParaRPr lang="en-US" sz="3000" dirty="0"/>
          </a:p>
        </p:txBody>
      </p:sp>
      <p:pic>
        <p:nvPicPr>
          <p:cNvPr id="3" name="Image 0" descr="Deskhand console, cropped to the open ticket. Ticket #2291 from Priya N. reads: The Orla lamp arrived with a cracked base. Can I get a refund? The draft reply offers an $84.00 refund for order #48213 and highlights three claims, numbered 1 to 3. Lines link each claim to its source: Returns and refunds, Order #48213, and Payments. The approval bar reads: Refund $84 is over your $50 limit, with an Approve and send butto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05" y="1783080"/>
            <a:ext cx="8380757" cy="294436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905" y="1783080"/>
            <a:ext cx="8380757" cy="2944368"/>
          </a:xfrm>
          <a:prstGeom prst="rect">
            <a:avLst/>
          </a:prstGeom>
          <a:ln w="9525">
            <a:solidFill>
              <a:srgbClr val="9A9EA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09905" y="5001768"/>
            <a:ext cx="109718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011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message, three sources, the cited draft and the approval bar on one screen.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09905" y="5870448"/>
            <a:ext cx="109718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114"/>
                </a:solidFill>
                <a:highlight>
                  <a:srgbClr val="FFE14D"/>
                </a:highlight>
                <a:latin typeface="Geist Mono" pitchFamily="34" charset="0"/>
                <a:ea typeface="Geist Mono" pitchFamily="34" charset="-122"/>
                <a:cs typeface="Geist Mono" pitchFamily="34" charset="-120"/>
              </a:rPr>
              <a:t> 1 </a:t>
            </a:r>
            <a:pPr indent="0" marL="0">
              <a:buNone/>
            </a:pPr>
            <a:r>
              <a:rPr lang="en-US" sz="1200" dirty="0">
                <a:solidFill>
                  <a:srgbClr val="5C5F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Capture of the Deskhand demo page, Brand Studio showcase, 25 Sep 2026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7390" y="630936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C5F66"/>
                </a:solidFill>
                <a:latin typeface="Geist Mono"/>
                <a:ea typeface="Geist Mono"/>
                <a:cs typeface="Geist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905" y="8229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6F6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Deskhand reads three sources, then writes a cited reply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31697" y="2816352"/>
            <a:ext cx="1526865" cy="0"/>
          </a:xfrm>
          <a:prstGeom prst="line">
            <a:avLst/>
          </a:prstGeom>
          <a:noFill/>
          <a:ln w="15875">
            <a:solidFill>
              <a:srgbClr val="4A4D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905" y="2560320"/>
            <a:ext cx="512064" cy="512064"/>
          </a:xfrm>
          <a:prstGeom prst="roundRect">
            <a:avLst>
              <a:gd name="adj" fmla="val 11161"/>
            </a:avLst>
          </a:prstGeom>
          <a:solidFill>
            <a:srgbClr val="FFE14D"/>
          </a:solidFill>
          <a:ln w="12700">
            <a:solidFill>
              <a:srgbClr val="FFE1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905" y="2560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111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905" y="3346704"/>
            <a:ext cx="193834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6F6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Reads the order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09905" y="4581144"/>
            <a:ext cx="1938345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A6A9B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Checks what the customer bought and paid.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90082" y="2816352"/>
            <a:ext cx="1526865" cy="0"/>
          </a:xfrm>
          <a:prstGeom prst="line">
            <a:avLst/>
          </a:prstGeom>
          <a:noFill/>
          <a:ln w="15875">
            <a:solidFill>
              <a:srgbClr val="4A4D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8290" y="2560320"/>
            <a:ext cx="512064" cy="512064"/>
          </a:xfrm>
          <a:prstGeom prst="roundRect">
            <a:avLst>
              <a:gd name="adj" fmla="val 11161"/>
            </a:avLst>
          </a:prstGeom>
          <a:solidFill>
            <a:srgbClr val="FFE14D"/>
          </a:solidFill>
          <a:ln w="12700">
            <a:solidFill>
              <a:srgbClr val="FFE1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68290" y="2560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111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868290" y="3346704"/>
            <a:ext cx="193834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6F6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Reads the help article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868290" y="4581144"/>
            <a:ext cx="1938345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A6A9B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Finds the policy that covers the ticket.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748467" y="2816352"/>
            <a:ext cx="1526865" cy="0"/>
          </a:xfrm>
          <a:prstGeom prst="line">
            <a:avLst/>
          </a:prstGeom>
          <a:noFill/>
          <a:ln w="15875">
            <a:solidFill>
              <a:srgbClr val="4A4D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26675" y="2560320"/>
            <a:ext cx="512064" cy="512064"/>
          </a:xfrm>
          <a:prstGeom prst="roundRect">
            <a:avLst>
              <a:gd name="adj" fmla="val 11161"/>
            </a:avLst>
          </a:prstGeom>
          <a:solidFill>
            <a:srgbClr val="FFE14D"/>
          </a:solidFill>
          <a:ln w="12700">
            <a:solidFill>
              <a:srgbClr val="FFE1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6675" y="2560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111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126675" y="3346704"/>
            <a:ext cx="193834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6F6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Reads the thread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126675" y="4581144"/>
            <a:ext cx="1938345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A6A9B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Picks up what the customer already said.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006852" y="2816352"/>
            <a:ext cx="1526865" cy="0"/>
          </a:xfrm>
          <a:prstGeom prst="line">
            <a:avLst/>
          </a:prstGeom>
          <a:noFill/>
          <a:ln w="15875">
            <a:solidFill>
              <a:srgbClr val="4A4D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85060" y="2560320"/>
            <a:ext cx="512064" cy="512064"/>
          </a:xfrm>
          <a:prstGeom prst="roundRect">
            <a:avLst>
              <a:gd name="adj" fmla="val 11161"/>
            </a:avLst>
          </a:prstGeom>
          <a:solidFill>
            <a:srgbClr val="FFE14D"/>
          </a:solidFill>
          <a:ln w="12700">
            <a:solidFill>
              <a:srgbClr val="FFE1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85060" y="2560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111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385060" y="3346704"/>
            <a:ext cx="193834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6F6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Writes a cited reply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385060" y="4581144"/>
            <a:ext cx="1938345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A6A9B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Numbers each claim and links it to its source.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643445" y="2560320"/>
            <a:ext cx="512064" cy="512064"/>
          </a:xfrm>
          <a:prstGeom prst="roundRect">
            <a:avLst>
              <a:gd name="adj" fmla="val 11161"/>
            </a:avLst>
          </a:prstGeom>
          <a:solidFill>
            <a:srgbClr val="FFE14D"/>
          </a:solidFill>
          <a:ln w="12700">
            <a:solidFill>
              <a:srgbClr val="FFE1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43445" y="2560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111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43445" y="3346704"/>
            <a:ext cx="193834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6F6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Holds large refunds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643445" y="4581144"/>
            <a:ext cx="1938345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A6A9B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refund over your limit waits for you.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09905" y="5870448"/>
            <a:ext cx="109718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114"/>
                </a:solidFill>
                <a:highlight>
                  <a:srgbClr val="FFE14D"/>
                </a:highlight>
                <a:latin typeface="Geist Mono" pitchFamily="34" charset="0"/>
                <a:ea typeface="Geist Mono" pitchFamily="34" charset="-122"/>
                <a:cs typeface="Geist Mono" pitchFamily="34" charset="-120"/>
              </a:rPr>
              <a:t> 1 </a:t>
            </a:r>
            <a:pPr indent="0" marL="0">
              <a:buNone/>
            </a:pPr>
            <a:r>
              <a:rPr lang="en-US" sz="1200" dirty="0">
                <a:solidFill>
                  <a:srgbClr val="A6A9B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Deskhand brand contract: how chapter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7390" y="630936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A6A9B0"/>
                </a:solidFill>
                <a:latin typeface="Geist Mono"/>
                <a:ea typeface="Geist Mono"/>
                <a:cs typeface="Geist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905" y="8229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11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 $84 refund over your limit waits for your approval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905" y="2148840"/>
            <a:ext cx="3474720" cy="1981200"/>
          </a:xfrm>
          <a:prstGeom prst="rect">
            <a:avLst/>
          </a:prstGeom>
          <a:solidFill>
            <a:srgbClr val="FFE1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10111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$84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4633265" y="2148840"/>
            <a:ext cx="6948526" cy="92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1011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Refund drafted for ticket #2291, a lamp that arrived cracked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633265" y="3347720"/>
            <a:ext cx="6948526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011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Deskhand writes the reply and holds it until you approve and send.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905" y="5870448"/>
            <a:ext cx="109718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114"/>
                </a:solidFill>
                <a:highlight>
                  <a:srgbClr val="FFE14D"/>
                </a:highlight>
                <a:latin typeface="Geist Mono" pitchFamily="34" charset="0"/>
                <a:ea typeface="Geist Mono" pitchFamily="34" charset="-122"/>
                <a:cs typeface="Geist Mono" pitchFamily="34" charset="-120"/>
              </a:rPr>
              <a:t> 1 </a:t>
            </a:r>
            <a:pPr indent="0" marL="0">
              <a:buNone/>
            </a:pPr>
            <a:r>
              <a:rPr lang="en-US" sz="1200" dirty="0">
                <a:solidFill>
                  <a:srgbClr val="5C5F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Sample ticket from the Deskhand brand contract; the data is fictional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7390" y="630936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C5F66"/>
                </a:solidFill>
                <a:latin typeface="Geist Mono"/>
                <a:ea typeface="Geist Mono"/>
                <a:cs typeface="Geist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905" y="8229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11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You set the refund limit, and chargebacks always go to a person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905" y="2148840"/>
            <a:ext cx="1097188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C5F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Where a ticket goes, by refund amount and type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09905" y="2799080"/>
            <a:ext cx="5348783" cy="2979928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9525">
            <a:solidFill>
              <a:srgbClr val="9A9E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9945" y="3119120"/>
            <a:ext cx="47087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011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Deskhand sends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29945" y="3759200"/>
            <a:ext cx="4708703" cy="179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011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Replies with a refund at or under your limit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011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Replies with no refund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33008" y="2799080"/>
            <a:ext cx="5348783" cy="2979928"/>
          </a:xfrm>
          <a:prstGeom prst="roundRect">
            <a:avLst>
              <a:gd name="adj" fmla="val 3836"/>
            </a:avLst>
          </a:prstGeom>
          <a:solidFill>
            <a:srgbClr val="FFE14D"/>
          </a:solidFill>
          <a:ln w="9525">
            <a:solidFill>
              <a:srgbClr val="FFE1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53048" y="3119120"/>
            <a:ext cx="47087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011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Waits for you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553048" y="3759200"/>
            <a:ext cx="4708703" cy="179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011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Refunds over your limit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011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Every chargeback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9905" y="5870448"/>
            <a:ext cx="109718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114"/>
                </a:solidFill>
                <a:highlight>
                  <a:srgbClr val="FFE14D"/>
                </a:highlight>
                <a:latin typeface="Geist Mono" pitchFamily="34" charset="0"/>
                <a:ea typeface="Geist Mono" pitchFamily="34" charset="-122"/>
                <a:cs typeface="Geist Mono" pitchFamily="34" charset="-120"/>
              </a:rPr>
              <a:t> 1 </a:t>
            </a:r>
            <a:pPr indent="0" marL="0">
              <a:buNone/>
            </a:pPr>
            <a:r>
              <a:rPr lang="en-US" sz="1200" dirty="0">
                <a:solidFill>
                  <a:srgbClr val="5C5F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Deskhand brand contract: limits chapter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7390" y="630936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C5F66"/>
                </a:solidFill>
                <a:latin typeface="Geist Mono"/>
                <a:ea typeface="Geist Mono"/>
                <a:cs typeface="Geist Mon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905" y="1798320"/>
            <a:ext cx="9875520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1011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Next step: try Deskhand free for 14 days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09905" y="3794760"/>
            <a:ext cx="91440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1011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After the trial, you pay for each reply Deskhand sends.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9905" y="4861560"/>
            <a:ext cx="3987800" cy="731520"/>
          </a:xfrm>
          <a:prstGeom prst="roundRect">
            <a:avLst>
              <a:gd name="adj" fmla="val 50000"/>
            </a:avLst>
          </a:prstGeom>
          <a:solidFill>
            <a:srgbClr val="10111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E14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Start a 14-day trial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09905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0111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Deskhand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09905" y="5989320"/>
            <a:ext cx="10971886" cy="0"/>
          </a:xfrm>
          <a:prstGeom prst="line">
            <a:avLst/>
          </a:prstGeom>
          <a:noFill/>
          <a:ln w="9525">
            <a:solidFill>
              <a:srgbClr val="1011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905" y="6126480"/>
            <a:ext cx="109718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0111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Deskhand is fictional  ·  brandstudio.js.org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khand">
  <a:themeElements>
    <a:clrScheme name="Deskhand">
      <a:dk1>
        <a:srgbClr val="101114"/>
      </a:dk1>
      <a:lt1>
        <a:srgbClr val="F6F6F3"/>
      </a:lt1>
      <a:dk2>
        <a:srgbClr val="101114"/>
      </a:dk2>
      <a:lt2>
        <a:srgbClr val="FFFFFF"/>
      </a:lt2>
      <a:accent1>
        <a:srgbClr val="FFE14D"/>
      </a:accent1>
      <a:accent2>
        <a:srgbClr val="101114"/>
      </a:accent2>
      <a:accent3>
        <a:srgbClr val="5C5F66"/>
      </a:accent3>
      <a:accent4>
        <a:srgbClr val="9A9EA6"/>
      </a:accent4>
      <a:accent5>
        <a:srgbClr val="1B1C20"/>
      </a:accent5>
      <a:accent6>
        <a:srgbClr val="A6A9B0"/>
      </a:accent6>
      <a:hlink>
        <a:srgbClr val="101114"/>
      </a:hlink>
      <a:folHlink>
        <a:srgbClr val="5C5F66"/>
      </a:folHlink>
    </a:clrScheme>
    <a:fontScheme name="Office">
      <a:majorFont>
        <a:latin typeface="Geis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Deskhand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Deskhand brand introduction</dc:title>
  <dc:subject>PptxGenJS Presentation</dc:subject>
  <dc:creator>Brand Studio</dc:creator>
  <cp:lastModifiedBy>Brand Studio</cp:lastModifiedBy>
  <cp:revision>1</cp:revision>
  <dcterms:created xsi:type="dcterms:W3CDTF">2026-09-25T12:31:18Z</dcterms:created>
  <dcterms:modified xsi:type="dcterms:W3CDTF">2026-09-25T12:31:18Z</dcterms:modified>
</cp:coreProperties>
</file>